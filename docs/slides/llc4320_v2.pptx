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 written</c:v>
                </c:pt>
              </c:strCache>
            </c:strRef>
          </c:tx>
          <c:spPr>
            <a:ln w="38100">
              <a:solidFill>
                <a:srgbClr val="1F6F9F"/>
              </a:solidFill>
            </a:ln>
          </c:spPr>
          <c:marker>
            <c:symbol val="none"/>
          </c:marker>
          <c:xVal>
            <c:numRef>
              <c:f>Sheet1!$A$2:$A$94</c:f>
              <c:numCache>
                <c:formatCode>General</c:formatCode>
                <c:ptCount val="93"/>
                <c:pt idx="0">
                  <c:v>0.0</c:v>
                </c:pt>
                <c:pt idx="1">
                  <c:v>0.087</c:v>
                </c:pt>
                <c:pt idx="2">
                  <c:v>0.131</c:v>
                </c:pt>
                <c:pt idx="3">
                  <c:v>0.205</c:v>
                </c:pt>
                <c:pt idx="4">
                  <c:v>0.256</c:v>
                </c:pt>
                <c:pt idx="5">
                  <c:v>0.303</c:v>
                </c:pt>
                <c:pt idx="6">
                  <c:v>0.355</c:v>
                </c:pt>
                <c:pt idx="7">
                  <c:v>0.406</c:v>
                </c:pt>
                <c:pt idx="8">
                  <c:v>0.452</c:v>
                </c:pt>
                <c:pt idx="9">
                  <c:v>0.503</c:v>
                </c:pt>
                <c:pt idx="10">
                  <c:v>0.56</c:v>
                </c:pt>
                <c:pt idx="11">
                  <c:v>0.608</c:v>
                </c:pt>
                <c:pt idx="12">
                  <c:v>0.648</c:v>
                </c:pt>
                <c:pt idx="13">
                  <c:v>0.697</c:v>
                </c:pt>
                <c:pt idx="14">
                  <c:v>0.764</c:v>
                </c:pt>
                <c:pt idx="15">
                  <c:v>0.812</c:v>
                </c:pt>
                <c:pt idx="16">
                  <c:v>0.856</c:v>
                </c:pt>
                <c:pt idx="17">
                  <c:v>0.912</c:v>
                </c:pt>
                <c:pt idx="18">
                  <c:v>0.959</c:v>
                </c:pt>
                <c:pt idx="19">
                  <c:v>1.012</c:v>
                </c:pt>
                <c:pt idx="20">
                  <c:v>1.06</c:v>
                </c:pt>
                <c:pt idx="21">
                  <c:v>1.1</c:v>
                </c:pt>
                <c:pt idx="22">
                  <c:v>1.147</c:v>
                </c:pt>
                <c:pt idx="23">
                  <c:v>1.193</c:v>
                </c:pt>
                <c:pt idx="24">
                  <c:v>1.251</c:v>
                </c:pt>
                <c:pt idx="25">
                  <c:v>1.313</c:v>
                </c:pt>
                <c:pt idx="26">
                  <c:v>1.377</c:v>
                </c:pt>
                <c:pt idx="27">
                  <c:v>1.449</c:v>
                </c:pt>
                <c:pt idx="28">
                  <c:v>1.515</c:v>
                </c:pt>
                <c:pt idx="29">
                  <c:v>1.574</c:v>
                </c:pt>
                <c:pt idx="30">
                  <c:v>1.644</c:v>
                </c:pt>
                <c:pt idx="31">
                  <c:v>1.701</c:v>
                </c:pt>
                <c:pt idx="32">
                  <c:v>1.77</c:v>
                </c:pt>
                <c:pt idx="33">
                  <c:v>1.832</c:v>
                </c:pt>
                <c:pt idx="34">
                  <c:v>1.882</c:v>
                </c:pt>
                <c:pt idx="35">
                  <c:v>1.939</c:v>
                </c:pt>
                <c:pt idx="36">
                  <c:v>1.99</c:v>
                </c:pt>
                <c:pt idx="37">
                  <c:v>2.04</c:v>
                </c:pt>
                <c:pt idx="38">
                  <c:v>2.086</c:v>
                </c:pt>
                <c:pt idx="39">
                  <c:v>2.128</c:v>
                </c:pt>
                <c:pt idx="40">
                  <c:v>2.17</c:v>
                </c:pt>
                <c:pt idx="41">
                  <c:v>2.213</c:v>
                </c:pt>
                <c:pt idx="42">
                  <c:v>2.258</c:v>
                </c:pt>
                <c:pt idx="43">
                  <c:v>2.306</c:v>
                </c:pt>
                <c:pt idx="44">
                  <c:v>2.362</c:v>
                </c:pt>
                <c:pt idx="45">
                  <c:v>2.406</c:v>
                </c:pt>
                <c:pt idx="46">
                  <c:v>2.453</c:v>
                </c:pt>
                <c:pt idx="47">
                  <c:v>2.5</c:v>
                </c:pt>
                <c:pt idx="48">
                  <c:v>2.558</c:v>
                </c:pt>
                <c:pt idx="49">
                  <c:v>2.614</c:v>
                </c:pt>
                <c:pt idx="50">
                  <c:v>2.674</c:v>
                </c:pt>
                <c:pt idx="51">
                  <c:v>2.726</c:v>
                </c:pt>
                <c:pt idx="52">
                  <c:v>2.776</c:v>
                </c:pt>
                <c:pt idx="53">
                  <c:v>2.831</c:v>
                </c:pt>
                <c:pt idx="54">
                  <c:v>2.88</c:v>
                </c:pt>
                <c:pt idx="55">
                  <c:v>2.932</c:v>
                </c:pt>
                <c:pt idx="56">
                  <c:v>2.978</c:v>
                </c:pt>
                <c:pt idx="57">
                  <c:v>3.038</c:v>
                </c:pt>
                <c:pt idx="58">
                  <c:v>3.097</c:v>
                </c:pt>
                <c:pt idx="59">
                  <c:v>3.163</c:v>
                </c:pt>
                <c:pt idx="60">
                  <c:v>3.219</c:v>
                </c:pt>
                <c:pt idx="61">
                  <c:v>3.266</c:v>
                </c:pt>
                <c:pt idx="62">
                  <c:v>3.312</c:v>
                </c:pt>
                <c:pt idx="63">
                  <c:v>3.371</c:v>
                </c:pt>
                <c:pt idx="64">
                  <c:v>3.426</c:v>
                </c:pt>
                <c:pt idx="65">
                  <c:v>3.485</c:v>
                </c:pt>
                <c:pt idx="66">
                  <c:v>3.545</c:v>
                </c:pt>
                <c:pt idx="67">
                  <c:v>3.595</c:v>
                </c:pt>
                <c:pt idx="68">
                  <c:v>3.644</c:v>
                </c:pt>
                <c:pt idx="69">
                  <c:v>3.707</c:v>
                </c:pt>
                <c:pt idx="70">
                  <c:v>3.767</c:v>
                </c:pt>
                <c:pt idx="71">
                  <c:v>3.823</c:v>
                </c:pt>
                <c:pt idx="72">
                  <c:v>3.885</c:v>
                </c:pt>
                <c:pt idx="73">
                  <c:v>3.943</c:v>
                </c:pt>
                <c:pt idx="74">
                  <c:v>4.013</c:v>
                </c:pt>
                <c:pt idx="75">
                  <c:v>4.066</c:v>
                </c:pt>
                <c:pt idx="76">
                  <c:v>4.126</c:v>
                </c:pt>
                <c:pt idx="77">
                  <c:v>4.18</c:v>
                </c:pt>
                <c:pt idx="78">
                  <c:v>4.24</c:v>
                </c:pt>
                <c:pt idx="79">
                  <c:v>4.29</c:v>
                </c:pt>
                <c:pt idx="80">
                  <c:v>4.34</c:v>
                </c:pt>
                <c:pt idx="81">
                  <c:v>4.402</c:v>
                </c:pt>
                <c:pt idx="82">
                  <c:v>4.451</c:v>
                </c:pt>
                <c:pt idx="83">
                  <c:v>4.499</c:v>
                </c:pt>
                <c:pt idx="84">
                  <c:v>4.543</c:v>
                </c:pt>
                <c:pt idx="85">
                  <c:v>4.576</c:v>
                </c:pt>
                <c:pt idx="86">
                  <c:v>4.629</c:v>
                </c:pt>
                <c:pt idx="87">
                  <c:v>4.678</c:v>
                </c:pt>
                <c:pt idx="88">
                  <c:v>4.731</c:v>
                </c:pt>
                <c:pt idx="89">
                  <c:v>4.776</c:v>
                </c:pt>
                <c:pt idx="90">
                  <c:v>4.823</c:v>
                </c:pt>
                <c:pt idx="91">
                  <c:v>4.872</c:v>
                </c:pt>
                <c:pt idx="92">
                  <c:v>6.28</c:v>
                </c:pt>
              </c:numCache>
            </c:numRef>
          </c:xVal>
          <c:yVal>
            <c:numRef>
              <c:f>Sheet1!$B$2:$B$94</c:f>
              <c:numCache>
                <c:formatCode>General</c:formatCode>
                <c:ptCount val="93"/>
                <c:pt idx="0">
                  <c:v>1</c:v>
                </c:pt>
                <c:pt idx="1">
                  <c:v>61</c:v>
                </c:pt>
                <c:pt idx="2">
                  <c:v>121</c:v>
                </c:pt>
                <c:pt idx="3">
                  <c:v>181</c:v>
                </c:pt>
                <c:pt idx="4">
                  <c:v>241</c:v>
                </c:pt>
                <c:pt idx="5">
                  <c:v>301</c:v>
                </c:pt>
                <c:pt idx="6">
                  <c:v>361</c:v>
                </c:pt>
                <c:pt idx="7">
                  <c:v>421</c:v>
                </c:pt>
                <c:pt idx="8">
                  <c:v>481</c:v>
                </c:pt>
                <c:pt idx="9">
                  <c:v>541</c:v>
                </c:pt>
                <c:pt idx="10">
                  <c:v>601</c:v>
                </c:pt>
                <c:pt idx="11">
                  <c:v>661</c:v>
                </c:pt>
                <c:pt idx="12">
                  <c:v>721</c:v>
                </c:pt>
                <c:pt idx="13">
                  <c:v>781</c:v>
                </c:pt>
                <c:pt idx="14">
                  <c:v>841</c:v>
                </c:pt>
                <c:pt idx="15">
                  <c:v>901</c:v>
                </c:pt>
                <c:pt idx="16">
                  <c:v>961</c:v>
                </c:pt>
                <c:pt idx="17">
                  <c:v>1021</c:v>
                </c:pt>
                <c:pt idx="18">
                  <c:v>1081</c:v>
                </c:pt>
                <c:pt idx="19">
                  <c:v>1141</c:v>
                </c:pt>
                <c:pt idx="20">
                  <c:v>1201</c:v>
                </c:pt>
                <c:pt idx="21">
                  <c:v>1261</c:v>
                </c:pt>
                <c:pt idx="22">
                  <c:v>1321</c:v>
                </c:pt>
                <c:pt idx="23">
                  <c:v>1381</c:v>
                </c:pt>
                <c:pt idx="24">
                  <c:v>1441</c:v>
                </c:pt>
                <c:pt idx="25">
                  <c:v>1501</c:v>
                </c:pt>
                <c:pt idx="26">
                  <c:v>1561</c:v>
                </c:pt>
                <c:pt idx="27">
                  <c:v>1621</c:v>
                </c:pt>
                <c:pt idx="28">
                  <c:v>1681</c:v>
                </c:pt>
                <c:pt idx="29">
                  <c:v>1741</c:v>
                </c:pt>
                <c:pt idx="30">
                  <c:v>1801</c:v>
                </c:pt>
                <c:pt idx="31">
                  <c:v>1861</c:v>
                </c:pt>
                <c:pt idx="32">
                  <c:v>1921</c:v>
                </c:pt>
                <c:pt idx="33">
                  <c:v>1981</c:v>
                </c:pt>
                <c:pt idx="34">
                  <c:v>2041</c:v>
                </c:pt>
                <c:pt idx="35">
                  <c:v>2101</c:v>
                </c:pt>
                <c:pt idx="36">
                  <c:v>2161</c:v>
                </c:pt>
                <c:pt idx="37">
                  <c:v>2221</c:v>
                </c:pt>
                <c:pt idx="38">
                  <c:v>2281</c:v>
                </c:pt>
                <c:pt idx="39">
                  <c:v>2341</c:v>
                </c:pt>
                <c:pt idx="40">
                  <c:v>2401</c:v>
                </c:pt>
                <c:pt idx="41">
                  <c:v>2461</c:v>
                </c:pt>
                <c:pt idx="42">
                  <c:v>2521</c:v>
                </c:pt>
                <c:pt idx="43">
                  <c:v>2581</c:v>
                </c:pt>
                <c:pt idx="44">
                  <c:v>2641</c:v>
                </c:pt>
                <c:pt idx="45">
                  <c:v>2701</c:v>
                </c:pt>
                <c:pt idx="46">
                  <c:v>2761</c:v>
                </c:pt>
                <c:pt idx="47">
                  <c:v>2821</c:v>
                </c:pt>
                <c:pt idx="48">
                  <c:v>2881</c:v>
                </c:pt>
                <c:pt idx="49">
                  <c:v>2941</c:v>
                </c:pt>
                <c:pt idx="50">
                  <c:v>3001</c:v>
                </c:pt>
                <c:pt idx="51">
                  <c:v>3061</c:v>
                </c:pt>
                <c:pt idx="52">
                  <c:v>3121</c:v>
                </c:pt>
                <c:pt idx="53">
                  <c:v>3181</c:v>
                </c:pt>
                <c:pt idx="54">
                  <c:v>3241</c:v>
                </c:pt>
                <c:pt idx="55">
                  <c:v>3301</c:v>
                </c:pt>
                <c:pt idx="56">
                  <c:v>3361</c:v>
                </c:pt>
                <c:pt idx="57">
                  <c:v>3421</c:v>
                </c:pt>
                <c:pt idx="58">
                  <c:v>3481</c:v>
                </c:pt>
                <c:pt idx="59">
                  <c:v>3541</c:v>
                </c:pt>
                <c:pt idx="60">
                  <c:v>3601</c:v>
                </c:pt>
                <c:pt idx="61">
                  <c:v>3661</c:v>
                </c:pt>
                <c:pt idx="62">
                  <c:v>3721</c:v>
                </c:pt>
                <c:pt idx="63">
                  <c:v>3781</c:v>
                </c:pt>
                <c:pt idx="64">
                  <c:v>3841</c:v>
                </c:pt>
                <c:pt idx="65">
                  <c:v>3901</c:v>
                </c:pt>
                <c:pt idx="66">
                  <c:v>3961</c:v>
                </c:pt>
                <c:pt idx="67">
                  <c:v>4021</c:v>
                </c:pt>
                <c:pt idx="68">
                  <c:v>4081</c:v>
                </c:pt>
                <c:pt idx="69">
                  <c:v>4141</c:v>
                </c:pt>
                <c:pt idx="70">
                  <c:v>4201</c:v>
                </c:pt>
                <c:pt idx="71">
                  <c:v>4261</c:v>
                </c:pt>
                <c:pt idx="72">
                  <c:v>4321</c:v>
                </c:pt>
                <c:pt idx="73">
                  <c:v>4381</c:v>
                </c:pt>
                <c:pt idx="74">
                  <c:v>4441</c:v>
                </c:pt>
                <c:pt idx="75">
                  <c:v>4501</c:v>
                </c:pt>
                <c:pt idx="76">
                  <c:v>4561</c:v>
                </c:pt>
                <c:pt idx="77">
                  <c:v>4621</c:v>
                </c:pt>
                <c:pt idx="78">
                  <c:v>4681</c:v>
                </c:pt>
                <c:pt idx="79">
                  <c:v>4741</c:v>
                </c:pt>
                <c:pt idx="80">
                  <c:v>4801</c:v>
                </c:pt>
                <c:pt idx="81">
                  <c:v>4861</c:v>
                </c:pt>
                <c:pt idx="82">
                  <c:v>4921</c:v>
                </c:pt>
                <c:pt idx="83">
                  <c:v>4981</c:v>
                </c:pt>
                <c:pt idx="84">
                  <c:v>5041</c:v>
                </c:pt>
                <c:pt idx="85">
                  <c:v>5101</c:v>
                </c:pt>
                <c:pt idx="86">
                  <c:v>5161</c:v>
                </c:pt>
                <c:pt idx="87">
                  <c:v>5221</c:v>
                </c:pt>
                <c:pt idx="88">
                  <c:v>5281</c:v>
                </c:pt>
                <c:pt idx="89">
                  <c:v>5341</c:v>
                </c:pt>
                <c:pt idx="90">
                  <c:v>5401</c:v>
                </c:pt>
                <c:pt idx="91">
                  <c:v>5461</c:v>
                </c:pt>
                <c:pt idx="92">
                  <c:v>5493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8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2000" b="0"/>
                  <a:t>days since 2026-09-24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000.0"/>
          <c:min val="0.0"/>
        </c:scaling>
        <c:delete val="0"/>
        <c:axPos val="l"/>
        <c:majorGridlines>
          <c:spPr>
            <a:ln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 b="0"/>
                  <a:t>stores written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crossAx val="-2128940872"/>
        <c:crosses val="autoZero"/>
        <c:crossBetween val="midCat"/>
        <c:majorUnit val="2500.0"/>
      </c:valAx>
    </c:plotArea>
    <c:plotVisOnly val="1"/>
    <c:dispBlanksAs val="gap"/>
    <c:showDLblsOverMax val="0"/>
  </c:chart>
  <c:txPr>
    <a:bodyPr/>
    <a:lstStyle/>
    <a:p>
      <a:pPr>
        <a:defRPr sz="2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the LLC4320 v2 extraction work: what the run is, how the pipeline works, what the data look like, and where the full SST run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faces x 4320 x 4320 = 243 M cells; 58 % ocean. 970 MB is one raw SST file; 474 MB is one compressed hourly Zarr store on S3. Data on disk run to 2024-02-08.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Surface files: SST/SSS/SSU/SSV.&lt;iter&gt;.data, MITgcm compact 4320 x 56160 real*4, identical to k=0 of the 3-D fields (Dan Whitt). 3-D files: &lt;field&gt;.&lt;iter&gt;.shrunk with hFacC/S/W.bits masks; only ~33 folders on POSIX. The decoder is a NumPy port of Kaitlin Zhang's llc_shrunk_mex.c, round-trip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Discover: list segment folders, date each file as folder start + (n+1) h, strict file-count check. Write: chunks (1, 720, 720), read back and verified; complete=True is set last, so partial stores are rewritten. Stores are s3://llc4320-v2/SURFACE/YYYYMMDDTHH.zarr; grid.zarr holds 23 static fields. Tools: inventory = what is in each folder; surface = extract (--fields, --dry-run, --limit); inspect = per-face stats, mask check, 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ExtractFields.m dated files as start + n h; Dan: the first file is one hour after the folder start. 9,503 files now fill 2023-01-01 01:00 to 2024-01-31 23:00. 2. The newest folder is a symlink into the live run; one folder has an unreadable data/ directory. 3. Theta.*.shrunk was missing from early folders: it moved to the export2 object store (mc + NAS access). 4. Cells the bitmask calls wet but the run wrote as 0 (bathymetry mismatch or ice-shelf cavities); left as 0.0.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from s3://llc4320-v2/SURFACE/20230701T12.zarr by docs/slides/llc4320_v2_figures.py. Range and mean (11.85 C) are from the first S3 store; nothing outside the plausible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960 x 804 cells of face 10, no subsampling. Small-scale structure like this is the reason to keep the native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row: faces 10-12 of the 2023-07-01 12 UTC store as written. Bottom row: after llc_v2.compact_to_faces. The compact file was reshaped straight to (13, 4320, 4320); that is right for faces 0-6, but faces 7-12 are stored as (4320, 12960) blocks. The fix reproduces XC/YC of s3://dbof grid.zarr with max difference 0. Fixed stores carry face_layout = "llc_faces". The global map was unaffected because it bins by XC/YC.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grid cells read from the hourly stores. A smooth diurnal cycle and a seasonal cycle with no jumps at folder boundaries both support the dating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directly from S3 on 2026-10-02. Launched 2026-09-24 with --fields SST. ~75 s and 474 MB per store while running. It stopped on 09-29 14:03 UTC after 20230817T16; 5 more stores were written 09-30 23:01-23:04 UTC, then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Repair option: rewrite faces 7-12 of each existing store in place from a workstation (~2.6 TB of S3 traffic, no Pleiades reads), or re-extract them (~4.7 more days on Pleiades). Adding fields later rewrites every store. Vectors need AngleCS/AngleSN from grid.zarr.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lc4320_v2_ss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47574"/>
            <a:ext cx="5486400" cy="36885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645920"/>
            <a:ext cx="5486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Cambria"/>
              </a:rPr>
              <a:t>LLC4320 v2</a:t>
            </a:r>
          </a:p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Cambria"/>
              </a:rPr>
              <a:t>surface fields on Nautilus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DCEBF2"/>
                </a:solidFill>
                <a:latin typeface="Calibri"/>
              </a:rPr>
              <a:t>Raw MITgcm output on NASA Pleiades → hourly Zarr stores in s3://llc4320-v2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J. X. Prochaska  · 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The v2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A new LLC4320 run by Dan Whitt (NASA Ames), not the v1 data in s3://dbof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7607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Global LLC grid,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1/48°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Same horizontal grid as v1;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new bathymetry, 173 levels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Hourly snapshots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from 2023-01-01; the run is still going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83+ folders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on Pleiades; model ΔT 5–20 s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Goal: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all surface fields on Nautilus, SST first</a:t>
            </a:r>
          </a:p>
        </p:txBody>
      </p:sp>
      <p:sp>
        <p:nvSpPr>
          <p:cNvPr id="5" name="stats card"/>
          <p:cNvSpPr/>
          <p:nvPr/>
        </p:nvSpPr>
        <p:spPr>
          <a:xfrm>
            <a:off x="6675120" y="1783080"/>
            <a:ext cx="4937760" cy="443484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9659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0B2A3F"/>
                </a:solidFill>
                <a:latin typeface="Cambria"/>
              </a:rPr>
              <a:t>9,503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65176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hourly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9659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0B2A3F"/>
                </a:solidFill>
                <a:latin typeface="Cambria"/>
              </a:rPr>
              <a:t>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65176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folders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38328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0B2A3F"/>
                </a:solidFill>
                <a:latin typeface="Cambria"/>
              </a:rPr>
              <a:t>13×4320²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0690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cells per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38328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0B2A3F"/>
                </a:solidFill>
                <a:latin typeface="Cambria"/>
              </a:rPr>
              <a:t>58 %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0690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ocean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8006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0B2A3F"/>
                </a:solidFill>
                <a:latin typeface="Cambria"/>
              </a:rPr>
              <a:t>970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4864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raw per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8006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0B2A3F"/>
                </a:solidFill>
                <a:latin typeface="Cambria"/>
              </a:rPr>
              <a:t>474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4864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Zarr per hour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Two raw formats; the easy one covers the surface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F6F9F"/>
                </a:solidFill>
                <a:latin typeface="Cambria"/>
              </a:rPr>
              <a:t>Surface: .data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SST, SSS, SSU, SSV, Eta, fluxes, sea ice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Uncompressed, big-endian float32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In all 83 folders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F6F9F"/>
                </a:solidFill>
                <a:latin typeface="Calibri"/>
              </a:rPr>
              <a:t>Used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5B6B78"/>
                </a:solidFill>
                <a:latin typeface="Cambria"/>
              </a:rPr>
              <a:t>3-D: .shrunk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560320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Theta, Salt, U, V, W on 173 levels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Wet points only + bitmasks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Jan–Jun 2023 moved to NAS export2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5B6B78"/>
                </a:solidFill>
                <a:latin typeface="Calibri"/>
              </a:rPr>
              <a:t>Decoder ready for the depth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The pipeline: wrangler.ogcm.llc_v2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One process on a Pleiades login node, streaming to Nautilus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0B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FFFFFF"/>
                </a:solidFill>
                <a:latin typeface="Cambria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date = start + (n+1) 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6896" y="2743200"/>
            <a:ext cx="219456" cy="320040"/>
          </a:xfrm>
          <a:prstGeom prst="rightArrow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182880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0116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60604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SST.&lt;iter&gt;.data → 13 faces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01184" y="2743200"/>
            <a:ext cx="219456" cy="320040"/>
          </a:xfrm>
          <a:prstGeom prst="rightArrow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57216" y="182880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20116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60604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hFacC.bits → NaN on land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05472" y="2743200"/>
            <a:ext cx="219456" cy="320040"/>
          </a:xfrm>
          <a:prstGeom prst="rightArrow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1504" y="182880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3" y="20116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3" y="260604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Zarr v3, verified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09759" y="2743200"/>
            <a:ext cx="219456" cy="320040"/>
          </a:xfrm>
          <a:prstGeom prst="rightArrow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65792" y="182880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0B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0116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FFFFFF"/>
                </a:solidFill>
                <a:latin typeface="Cambria"/>
              </a:rPr>
              <a:t>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60604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one store per hour on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Command-line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C2630"/>
                </a:solidFill>
                <a:latin typeface="Courier New"/>
              </a:rPr>
              <a:t>wr_llc_v2_inventory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C2630"/>
                </a:solidFill>
                <a:latin typeface="Courier New"/>
              </a:rPr>
              <a:t>wr_llc_v2_surface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C2630"/>
                </a:solidFill>
                <a:latin typeface="Courier New"/>
              </a:rPr>
              <a:t>wr_llc_v2_inspect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Built to be restarted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0060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C2630"/>
                </a:solidFill>
                <a:latin typeface="Calibri"/>
              </a:rPr>
              <a:t>Finished stores are skipped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C2630"/>
                </a:solidFill>
                <a:latin typeface="Calibri"/>
              </a:rPr>
              <a:t>Unreadable folders are skipped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Problems found and fixed along the 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64208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Dates one hour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4251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Fixed: 9,503 hours, no gaps or repeats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59" y="1664208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6459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Unreadable folders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286000"/>
            <a:ext cx="4251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The live run and a locked data/ dir are now skipped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4133088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148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Missing 3-D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54880"/>
            <a:ext cx="4251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Jan–Jun 2023 .shrunk moved to export2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4048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59" y="4133088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1148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A3F"/>
                </a:solidFill>
                <a:latin typeface="Cambria"/>
              </a:rPr>
              <a:t>3,477 wet cells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754880"/>
            <a:ext cx="4251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C2630"/>
                </a:solidFill>
                <a:latin typeface="Calibri"/>
              </a:rPr>
              <a:t>0.0025 % of ocean; mask vs. bathymetry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On Nautilus: one hour of global SST</a:t>
            </a:r>
          </a:p>
        </p:txBody>
      </p:sp>
      <p:pic>
        <p:nvPicPr>
          <p:cNvPr id="3" name="Picture 2" descr="llc4320_v2_ss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05" y="1234440"/>
            <a:ext cx="761654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645920"/>
            <a:ext cx="2834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2023-07-01 12:00 UTC</a:t>
            </a:r>
          </a:p>
          <a:p>
            <a:pPr algn="l">
              <a:spcAft>
                <a:spcPts val="20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Every 4th point, binned to 0.25°</a:t>
            </a:r>
          </a:p>
          <a:p>
            <a:pPr algn="l">
              <a:spcAft>
                <a:spcPts val="20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−2.1 to 32.4 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At full resolution: the Gulf Stream</a:t>
            </a:r>
          </a:p>
        </p:txBody>
      </p:sp>
      <p:pic>
        <p:nvPicPr>
          <p:cNvPr id="3" name="Picture 2" descr="llc4320_v2_sst_gulf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30" y="1234440"/>
            <a:ext cx="755833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0" y="1645920"/>
            <a:ext cx="2743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Every cell, ~2 km</a:t>
            </a:r>
          </a:p>
          <a:p>
            <a:pPr algn="l">
              <a:spcAft>
                <a:spcPts val="20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Same hour</a:t>
            </a:r>
          </a:p>
          <a:p>
            <a:pPr algn="l">
              <a:spcAft>
                <a:spcPts val="20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Fronts, filaments and eddies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0" i="0">
                <a:solidFill>
                  <a:srgbClr val="0B2A3F"/>
                </a:solidFill>
                <a:latin typeface="Cambria"/>
              </a:rPr>
              <a:t>Found this week: faces 7–12 were scrambled</a:t>
            </a:r>
          </a:p>
        </p:txBody>
      </p:sp>
      <p:pic>
        <p:nvPicPr>
          <p:cNvPr id="3" name="Picture 2" descr="llc4320_v2_face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8845"/>
            <a:ext cx="6949440" cy="4791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39319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Cause: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wrong reshape of the rotated faces</a:t>
            </a:r>
          </a:p>
          <a:p>
            <a:pPr algn="l">
              <a:spcAft>
                <a:spcPts val="18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Nothing lost: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values are only permuted</a:t>
            </a:r>
          </a:p>
          <a:p>
            <a:pPr algn="l">
              <a:spcAft>
                <a:spcPts val="18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Fixed: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matches v1's grid exactly</a:t>
            </a:r>
          </a:p>
          <a:p>
            <a:pPr algn="l">
              <a:spcAft>
                <a:spcPts val="18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C2630"/>
                </a:solidFill>
                <a:latin typeface="Calibri"/>
              </a:rPr>
              <a:t>To do: </a:t>
            </a:r>
            <a:r>
              <a:rPr sz="2200" b="0" i="0">
                <a:solidFill>
                  <a:srgbClr val="1C2630"/>
                </a:solidFill>
                <a:latin typeface="Calibri"/>
              </a:rPr>
              <a:t>repair 5,493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Through time: the dates line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Left: hourly for one week.  Right: daily at 12 UTC, 2023-01 to 08</a:t>
            </a:r>
          </a:p>
        </p:txBody>
      </p:sp>
      <p:pic>
        <p:nvPicPr>
          <p:cNvPr id="4" name="Picture 3" descr="llc4320_v2_sst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35" y="1691640"/>
            <a:ext cx="1099884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0B2A3F"/>
                </a:solidFill>
                <a:latin typeface="Cambria"/>
              </a:rPr>
              <a:t>The full SST run: past halfway, now stalled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70408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55279" y="1371600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0B2A3F"/>
                </a:solidFill>
                <a:latin typeface="Cambria"/>
              </a:rPr>
              <a:t>5,493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05740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of 9,503 stores (58 %)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606040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0B2A3F"/>
                </a:solidFill>
                <a:latin typeface="Cambria"/>
              </a:rPr>
              <a:t>Jan 1 → Aug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29184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model dates, no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840480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0B2A3F"/>
                </a:solidFill>
                <a:latin typeface="Cambria"/>
              </a:rPr>
              <a:t>4.5 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52628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projected total</a:t>
            </a:r>
          </a:p>
        </p:txBody>
      </p:sp>
      <p:sp>
        <p:nvSpPr>
          <p:cNvPr id="10" name="stall alert"/>
          <p:cNvSpPr/>
          <p:nvPr/>
        </p:nvSpPr>
        <p:spPr>
          <a:xfrm>
            <a:off x="7863840" y="5074920"/>
            <a:ext cx="3840480" cy="1188720"/>
          </a:xfrm>
          <a:prstGeom prst="roundRect">
            <a:avLst>
              <a:gd name="adj" fmla="val 8000"/>
            </a:avLst>
          </a:prstGeom>
          <a:solidFill>
            <a:srgbClr val="FB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5212080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C2630"/>
                </a:solidFill>
                <a:latin typeface="Calibri"/>
              </a:rPr>
              <a:t>Nothing new since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4572E"/>
                </a:solidFill>
                <a:latin typeface="Calibri"/>
              </a:rPr>
              <a:t>Sep 30 23:04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5B6B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0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173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Restart with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git pull on Pleiades first</a:t>
            </a:r>
          </a:p>
        </p:txBody>
      </p:sp>
      <p:sp>
        <p:nvSpPr>
          <p:cNvPr id="6" name="Oval 5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173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Repair old 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0116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rewrite faces 7–12 on S3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Bucket quota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4.5 TB for SST; ~18 TB for 4 fields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06324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SSS / SSU / SSV?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65760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each later pass is ~8 days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0916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Depth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3035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needs NAS export2 access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4754880"/>
            <a:ext cx="457200" cy="457200"/>
          </a:xfrm>
          <a:prstGeom prst="ellipse">
            <a:avLst/>
          </a:prstGeom>
          <a:solidFill>
            <a:srgbClr val="1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0916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3035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rotate SSU/SSV to east/north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 i="0">
                <a:solidFill>
                  <a:srgbClr val="DCEBF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LLC4320 v2 surface fields on Nautilus</dc:title>
  <dc:subject/>
  <dc:creator>J. Xavier Prochaska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